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6583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ECF5FF"/>
                </a:solidFill>
                <a:latin typeface="Aptos"/>
              </a:rPr>
              <a:t>K8sWhisperer End-to-End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48640"/>
            <a:ext cx="7132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FD1E5"/>
                </a:solidFill>
                <a:latin typeface="Aptos"/>
              </a:rPr>
              <a:t>Real minikube incident signals -&gt; LangGraph safety loop -&gt; Slack HITL -&gt; audit trail -&gt; optional Soroban attestation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60120"/>
            <a:ext cx="1965960" cy="2331720"/>
          </a:xfrm>
          <a:prstGeom prst="roundRect">
            <a:avLst/>
          </a:prstGeom>
          <a:solidFill>
            <a:srgbClr val="0A1726"/>
          </a:solidFill>
          <a:ln w="15240">
            <a:solidFill>
              <a:srgbClr val="43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  <a:r>
              <a:rPr sz="1800" b="1">
                <a:solidFill>
                  <a:srgbClr val="7DE6FF"/>
                </a:solidFill>
                <a:latin typeface="Aptos"/>
              </a:rPr>
              <a:t>1. Signal Sources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BFD1E5"/>
                </a:solidFill>
                <a:latin typeface="Aptos"/>
              </a:rPr>
              <a:t>Live cluster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481328"/>
            <a:ext cx="1737360" cy="1645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BFD1E5"/>
                </a:solidFill>
                <a:latin typeface="Aptos"/>
              </a:rPr>
              <a:t>Namespace-scoped pods, events, deployments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BFD1E5"/>
                </a:solidFill>
                <a:latin typeface="Aptos"/>
              </a:rPr>
              <a:t>Optional read-only node snapshot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BFD1E5"/>
                </a:solidFill>
                <a:latin typeface="Aptos"/>
              </a:rPr>
              <a:t>Optional Prometheus metrics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BFD1E5"/>
                </a:solidFill>
                <a:latin typeface="Aptos"/>
              </a:rPr>
              <a:t>Demo workloads: CrashLoop, OOM, Pending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3703320"/>
            <a:ext cx="1965960" cy="1920240"/>
          </a:xfrm>
          <a:prstGeom prst="roundRect">
            <a:avLst/>
          </a:prstGeom>
          <a:solidFill>
            <a:srgbClr val="0A1726"/>
          </a:solidFill>
          <a:ln w="15240">
            <a:solidFill>
              <a:srgbClr val="43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  <a:r>
              <a:rPr sz="1800" b="1">
                <a:solidFill>
                  <a:srgbClr val="7DE6FF"/>
                </a:solidFill>
                <a:latin typeface="Aptos"/>
              </a:rPr>
              <a:t>Interfaces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BFD1E5"/>
                </a:solidFill>
                <a:latin typeface="Aptos"/>
              </a:rPr>
              <a:t>Operator and external surfaces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4224528"/>
            <a:ext cx="1737360" cy="11887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BFD1E5"/>
                </a:solidFill>
                <a:latin typeface="Aptos"/>
              </a:rPr>
              <a:t>FastAPI: health, incidents, audit, attestation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BFD1E5"/>
                </a:solidFill>
                <a:latin typeface="Aptos"/>
              </a:rPr>
              <a:t>Slack interactive approval callback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BFD1E5"/>
                </a:solidFill>
                <a:latin typeface="Aptos"/>
              </a:rPr>
              <a:t>React operator console for proofs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BFD1E5"/>
                </a:solidFill>
                <a:latin typeface="Aptos"/>
              </a:rPr>
              <a:t>Typed MCP servers: kubectl, Slack, Prometheus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960120"/>
            <a:ext cx="5623560" cy="2697480"/>
          </a:xfrm>
          <a:prstGeom prst="roundRect">
            <a:avLst/>
          </a:prstGeom>
          <a:solidFill>
            <a:srgbClr val="0F263C"/>
          </a:solidFill>
          <a:ln w="15240">
            <a:solidFill>
              <a:srgbClr val="43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  <a:r>
              <a:rPr sz="1800" b="1">
                <a:solidFill>
                  <a:srgbClr val="77A4FF"/>
                </a:solidFill>
                <a:latin typeface="Aptos"/>
              </a:rPr>
              <a:t>2. LangGraph Control Loop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BFD1E5"/>
                </a:solidFill>
                <a:latin typeface="Aptos"/>
              </a:rPr>
              <a:t>Shared typed state, persistent checkpoints, exact resume by incident_id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755648"/>
            <a:ext cx="713232" cy="841248"/>
          </a:xfrm>
          <a:prstGeom prst="roundRect">
            <a:avLst/>
          </a:prstGeom>
          <a:solidFill>
            <a:srgbClr val="0C1F31"/>
          </a:solidFill>
          <a:ln w="16510">
            <a:solidFill>
              <a:srgbClr val="7D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/>
          <a:lstStyle/>
          <a:p>
            <a:pPr algn="ctr"/>
            <a:r>
              <a:rPr sz="1300" b="1">
                <a:solidFill>
                  <a:srgbClr val="ECF5FF"/>
                </a:solidFill>
                <a:latin typeface="Aptos"/>
              </a:rPr>
              <a:t>observe</a:t>
            </a:r>
          </a:p>
          <a:p>
            <a:pPr algn="ctr"/>
            <a:r>
              <a:rPr sz="900" b="0">
                <a:solidFill>
                  <a:srgbClr val="BFD1E5"/>
                </a:solidFill>
                <a:latin typeface="Aptos"/>
              </a:rPr>
              <a:t>pods/events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755648"/>
            <a:ext cx="713232" cy="841248"/>
          </a:xfrm>
          <a:prstGeom prst="roundRect">
            <a:avLst/>
          </a:prstGeom>
          <a:solidFill>
            <a:srgbClr val="0C1F31"/>
          </a:solidFill>
          <a:ln w="16510">
            <a:solidFill>
              <a:srgbClr val="7D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/>
          <a:lstStyle/>
          <a:p>
            <a:pPr algn="ctr"/>
            <a:r>
              <a:rPr sz="1300" b="1">
                <a:solidFill>
                  <a:srgbClr val="ECF5FF"/>
                </a:solidFill>
                <a:latin typeface="Aptos"/>
              </a:rPr>
              <a:t>detect</a:t>
            </a:r>
          </a:p>
          <a:p>
            <a:pPr algn="ctr"/>
            <a:r>
              <a:rPr sz="900" b="0">
                <a:solidFill>
                  <a:srgbClr val="BFD1E5"/>
                </a:solidFill>
                <a:latin typeface="Aptos"/>
              </a:rPr>
              <a:t>hybrid LLM
+ heuristic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92424.0" y="2176272.0"/>
            <a:ext cx="164592.0" cy="0.0"/>
          </a:xfrm>
          <a:prstGeom prst="line">
            <a:avLst/>
          </a:prstGeom>
          <a:ln w="22860">
            <a:solidFill>
              <a:srgbClr val="436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42816" y="1755648"/>
            <a:ext cx="713232" cy="841248"/>
          </a:xfrm>
          <a:prstGeom prst="roundRect">
            <a:avLst/>
          </a:prstGeom>
          <a:solidFill>
            <a:srgbClr val="0C1F31"/>
          </a:solidFill>
          <a:ln w="16510">
            <a:solidFill>
              <a:srgbClr val="7D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/>
          <a:lstStyle/>
          <a:p>
            <a:pPr algn="ctr"/>
            <a:r>
              <a:rPr sz="1300" b="1">
                <a:solidFill>
                  <a:srgbClr val="ECF5FF"/>
                </a:solidFill>
                <a:latin typeface="Aptos"/>
              </a:rPr>
              <a:t>diagnose</a:t>
            </a:r>
          </a:p>
          <a:p>
            <a:pPr algn="ctr"/>
            <a:r>
              <a:rPr sz="900" b="0">
                <a:solidFill>
                  <a:srgbClr val="BFD1E5"/>
                </a:solidFill>
                <a:latin typeface="Aptos"/>
              </a:rPr>
              <a:t>logs + evidence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42232.0" y="2176272.0"/>
            <a:ext cx="164592.0" cy="0.0"/>
          </a:xfrm>
          <a:prstGeom prst="line">
            <a:avLst/>
          </a:prstGeom>
          <a:ln w="22860">
            <a:solidFill>
              <a:srgbClr val="436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92624" y="1755648"/>
            <a:ext cx="713232" cy="841248"/>
          </a:xfrm>
          <a:prstGeom prst="roundRect">
            <a:avLst/>
          </a:prstGeom>
          <a:solidFill>
            <a:srgbClr val="0C1F31"/>
          </a:solidFill>
          <a:ln w="16510">
            <a:solidFill>
              <a:srgbClr val="7D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/>
          <a:lstStyle/>
          <a:p>
            <a:pPr algn="ctr"/>
            <a:r>
              <a:rPr sz="1300" b="1">
                <a:solidFill>
                  <a:srgbClr val="ECF5FF"/>
                </a:solidFill>
                <a:latin typeface="Aptos"/>
              </a:rPr>
              <a:t>plan</a:t>
            </a:r>
          </a:p>
          <a:p>
            <a:pPr algn="ctr"/>
            <a:r>
              <a:rPr sz="900" b="0">
                <a:solidFill>
                  <a:srgbClr val="BFD1E5"/>
                </a:solidFill>
                <a:latin typeface="Aptos"/>
              </a:rPr>
              <a:t>action + blast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92040.0" y="2176272.0"/>
            <a:ext cx="164592.0" cy="0.0"/>
          </a:xfrm>
          <a:prstGeom prst="line">
            <a:avLst/>
          </a:prstGeom>
          <a:ln w="22860">
            <a:solidFill>
              <a:srgbClr val="436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742432" y="1755648"/>
            <a:ext cx="713232" cy="841248"/>
          </a:xfrm>
          <a:prstGeom prst="roundRect">
            <a:avLst/>
          </a:prstGeom>
          <a:solidFill>
            <a:srgbClr val="0C1F31"/>
          </a:solidFill>
          <a:ln w="16510">
            <a:solidFill>
              <a:srgbClr val="7D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/>
          <a:lstStyle/>
          <a:p>
            <a:pPr algn="ctr"/>
            <a:r>
              <a:rPr sz="1300" b="1">
                <a:solidFill>
                  <a:srgbClr val="ECF5FF"/>
                </a:solidFill>
                <a:latin typeface="Aptos"/>
              </a:rPr>
              <a:t>safety</a:t>
            </a:r>
          </a:p>
          <a:p>
            <a:pPr algn="ctr"/>
            <a:r>
              <a:rPr sz="900" b="0">
                <a:solidFill>
                  <a:srgbClr val="BFD1E5"/>
                </a:solidFill>
                <a:latin typeface="Aptos"/>
              </a:rPr>
              <a:t>auto vs HITL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41848.0" y="2176272.0"/>
            <a:ext cx="164592.0" cy="0.0"/>
          </a:xfrm>
          <a:prstGeom prst="line">
            <a:avLst/>
          </a:prstGeom>
          <a:ln w="22860">
            <a:solidFill>
              <a:srgbClr val="436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92240" y="1755648"/>
            <a:ext cx="713232" cy="841248"/>
          </a:xfrm>
          <a:prstGeom prst="roundRect">
            <a:avLst/>
          </a:prstGeom>
          <a:solidFill>
            <a:srgbClr val="0C1F31"/>
          </a:solidFill>
          <a:ln w="16510">
            <a:solidFill>
              <a:srgbClr val="7D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/>
          <a:lstStyle/>
          <a:p>
            <a:pPr algn="ctr"/>
            <a:r>
              <a:rPr sz="1300" b="1">
                <a:solidFill>
                  <a:srgbClr val="ECF5FF"/>
                </a:solidFill>
                <a:latin typeface="Aptos"/>
              </a:rPr>
              <a:t>execute</a:t>
            </a:r>
          </a:p>
          <a:p>
            <a:pPr algn="ctr"/>
            <a:r>
              <a:rPr sz="900" b="0">
                <a:solidFill>
                  <a:srgbClr val="BFD1E5"/>
                </a:solidFill>
                <a:latin typeface="Aptos"/>
              </a:rPr>
              <a:t>restart/patch
or guidance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91656.0" y="2176272.0"/>
            <a:ext cx="164592.0" cy="0.0"/>
          </a:xfrm>
          <a:prstGeom prst="line">
            <a:avLst/>
          </a:prstGeom>
          <a:ln w="22860">
            <a:solidFill>
              <a:srgbClr val="436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242048" y="1755648"/>
            <a:ext cx="713232" cy="841248"/>
          </a:xfrm>
          <a:prstGeom prst="roundRect">
            <a:avLst/>
          </a:prstGeom>
          <a:solidFill>
            <a:srgbClr val="0C1F31"/>
          </a:solidFill>
          <a:ln w="16510">
            <a:solidFill>
              <a:srgbClr val="7D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/>
          <a:lstStyle/>
          <a:p>
            <a:pPr algn="ctr"/>
            <a:r>
              <a:rPr sz="1300" b="1">
                <a:solidFill>
                  <a:srgbClr val="ECF5FF"/>
                </a:solidFill>
                <a:latin typeface="Aptos"/>
              </a:rPr>
              <a:t>explain</a:t>
            </a:r>
          </a:p>
          <a:p>
            <a:pPr algn="ctr"/>
            <a:r>
              <a:rPr sz="900" b="0">
                <a:solidFill>
                  <a:srgbClr val="BFD1E5"/>
                </a:solidFill>
                <a:latin typeface="Aptos"/>
              </a:rPr>
              <a:t>summary + log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41464.0" y="2176272.0"/>
            <a:ext cx="164592.0" cy="0.0"/>
          </a:xfrm>
          <a:prstGeom prst="line">
            <a:avLst/>
          </a:prstGeom>
          <a:ln w="22860">
            <a:solidFill>
              <a:srgbClr val="436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880360" y="2944368"/>
            <a:ext cx="4892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BFD1E5"/>
                </a:solidFill>
                <a:latin typeface="Aptos"/>
              </a:rPr>
              <a:t>Core incident paths: CrashLoopBackOff auto-remediation, OOMKilled HITL recommendation/patch path, PendingPod guidance-only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94192" y="960120"/>
            <a:ext cx="3456432" cy="2697480"/>
          </a:xfrm>
          <a:prstGeom prst="roundRect">
            <a:avLst/>
          </a:prstGeom>
          <a:solidFill>
            <a:srgbClr val="0A1726"/>
          </a:solidFill>
          <a:ln w="15240">
            <a:solidFill>
              <a:srgbClr val="43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  <a:r>
              <a:rPr sz="1800" b="1">
                <a:solidFill>
                  <a:srgbClr val="FFD07A"/>
                </a:solidFill>
                <a:latin typeface="Aptos"/>
              </a:rPr>
              <a:t>3. Safety + Human Gate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BFD1E5"/>
                </a:solidFill>
                <a:latin typeface="Aptos"/>
              </a:rPr>
              <a:t>Safe automation, not blind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481328"/>
            <a:ext cx="3108960" cy="1737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BFD1E5"/>
                </a:solidFill>
                <a:latin typeface="Aptos"/>
              </a:rPr>
              <a:t>Low-blast-radius plans can auto-approve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BFD1E5"/>
                </a:solidFill>
                <a:latin typeface="Aptos"/>
              </a:rPr>
              <a:t>Riskier plans pause with interrupt()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BFD1E5"/>
                </a:solidFill>
                <a:latin typeface="Aptos"/>
              </a:rPr>
              <a:t>Slack button click resumes the exact graph thread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BFD1E5"/>
                </a:solidFill>
                <a:latin typeface="Aptos"/>
              </a:rPr>
              <a:t>Default RBAC stays namespace-scoped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BFD1E5"/>
                </a:solidFill>
                <a:latin typeface="Aptos"/>
              </a:rPr>
              <a:t>Destructive actions stay denylisted by default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83879" y="2240280"/>
            <a:ext cx="210313" cy="0"/>
          </a:xfrm>
          <a:prstGeom prst="line">
            <a:avLst/>
          </a:prstGeom>
          <a:ln w="22860">
            <a:solidFill>
              <a:srgbClr val="FFD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542032" y="3886200"/>
            <a:ext cx="3977639" cy="1755648"/>
          </a:xfrm>
          <a:prstGeom prst="roundRect">
            <a:avLst/>
          </a:prstGeom>
          <a:solidFill>
            <a:srgbClr val="0A1726"/>
          </a:solidFill>
          <a:ln w="15240">
            <a:solidFill>
              <a:srgbClr val="43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  <a:r>
              <a:rPr sz="1800" b="1">
                <a:solidFill>
                  <a:srgbClr val="5FD69A"/>
                </a:solidFill>
                <a:latin typeface="Aptos"/>
              </a:rPr>
              <a:t>4. State, Query, and Audit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BFD1E5"/>
                </a:solidFill>
                <a:latin typeface="Aptos"/>
              </a:rPr>
              <a:t>Everything is explainable and inspectable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88336" y="4407408"/>
            <a:ext cx="3657600" cy="9601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BFD1E5"/>
                </a:solidFill>
                <a:latin typeface="Aptos"/>
              </a:rPr>
              <a:t>Checkpoint store preserves pending approvals across restarts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BFD1E5"/>
                </a:solidFill>
                <a:latin typeface="Aptos"/>
              </a:rPr>
              <a:t>JSONL audit log stores diagnosis, decision, evidence, and result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BFD1E5"/>
                </a:solidFill>
                <a:latin typeface="Aptos"/>
              </a:rPr>
              <a:t>FastAPI summary endpoints merge runtime + audit for operators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48272" y="3886200"/>
            <a:ext cx="2331720" cy="1755648"/>
          </a:xfrm>
          <a:prstGeom prst="roundRect">
            <a:avLst/>
          </a:prstGeom>
          <a:solidFill>
            <a:srgbClr val="0A1726"/>
          </a:solidFill>
          <a:ln w="15240">
            <a:solidFill>
              <a:srgbClr val="43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  <a:r>
              <a:rPr sz="1800" b="1">
                <a:solidFill>
                  <a:srgbClr val="7DE6FF"/>
                </a:solidFill>
                <a:latin typeface="Aptos"/>
              </a:rPr>
              <a:t>5. Frontend Desk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BFD1E5"/>
                </a:solidFill>
                <a:latin typeface="Aptos"/>
              </a:rPr>
              <a:t>Separate from control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4407408"/>
            <a:ext cx="205740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BFD1E5"/>
                </a:solidFill>
                <a:latin typeface="Aptos"/>
              </a:rPr>
              <a:t>Browse incidents and audit timeline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BFD1E5"/>
                </a:solidFill>
                <a:latin typeface="Aptos"/>
              </a:rPr>
              <a:t>Anchor proof record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BFD1E5"/>
                </a:solidFill>
                <a:latin typeface="Aptos"/>
              </a:rPr>
              <a:t>Verify canonical hash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08592" y="3886200"/>
            <a:ext cx="2542032" cy="1755648"/>
          </a:xfrm>
          <a:prstGeom prst="roundRect">
            <a:avLst/>
          </a:prstGeom>
          <a:solidFill>
            <a:srgbClr val="0A1726"/>
          </a:solidFill>
          <a:ln w="15240">
            <a:solidFill>
              <a:srgbClr val="43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  <a:r>
              <a:rPr sz="1800" b="1">
                <a:solidFill>
                  <a:srgbClr val="FFA5A5"/>
                </a:solidFill>
                <a:latin typeface="Aptos"/>
              </a:rPr>
              <a:t>6. Optional Soroban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BFD1E5"/>
                </a:solidFill>
                <a:latin typeface="Aptos"/>
              </a:rPr>
              <a:t>Bonus path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4407408"/>
            <a:ext cx="2240280" cy="8961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BFD1E5"/>
                </a:solidFill>
                <a:latin typeface="Aptos"/>
              </a:rPr>
              <a:t>Backend anchors incident hash on Soroban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BFD1E5"/>
                </a:solidFill>
                <a:latin typeface="Aptos"/>
              </a:rPr>
              <a:t>Frontend verifies proof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BFD1E5"/>
                </a:solidFill>
                <a:latin typeface="Aptos"/>
              </a:rPr>
              <a:t>Not part of remediation execution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4617720" y="3703320"/>
            <a:ext cx="1051560" cy="182880"/>
          </a:xfrm>
          <a:prstGeom prst="line">
            <a:avLst/>
          </a:prstGeom>
          <a:ln w="17780">
            <a:solidFill>
              <a:srgbClr val="5FD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19672" y="4754880"/>
            <a:ext cx="228600" cy="0"/>
          </a:xfrm>
          <a:prstGeom prst="line">
            <a:avLst/>
          </a:prstGeom>
          <a:ln w="17780">
            <a:solidFill>
              <a:srgbClr val="7D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079992" y="4754880"/>
            <a:ext cx="228600" cy="0"/>
          </a:xfrm>
          <a:prstGeom prst="line">
            <a:avLst/>
          </a:prstGeom>
          <a:ln w="17780">
            <a:solidFill>
              <a:srgbClr val="FFA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20040" y="5925312"/>
            <a:ext cx="11521440" cy="530352"/>
          </a:xfrm>
          <a:prstGeom prst="roundRect">
            <a:avLst/>
          </a:prstGeom>
          <a:solidFill>
            <a:srgbClr val="0C1F31"/>
          </a:solidFill>
          <a:ln w="12700">
            <a:solidFill>
              <a:srgbClr val="43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ECF5FF"/>
                </a:solidFill>
                <a:latin typeface="Aptos"/>
              </a:rPr>
              <a:t>Key message: K8sWhisperer runs on a real minikube cluster, uses a persistent LangGraph workflow for safe automation, gates risky actions through Slack HITL, writes a full audit trail, and keeps Soroban attestation isolated as optional proof depth.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